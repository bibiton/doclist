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80724"/>
              </a:gs>
              <a:gs pos="100000">
                <a:srgbClr val="1D0C4E"/>
              </a:gs>
            </a:gsLst>
            <a:lin ang="45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097280"/>
            <a:ext cx="3200400" cy="3200400"/>
          </a:xfrm>
          <a:prstGeom prst="ellipse">
            <a:avLst/>
          </a:prstGeom>
          <a:noFill/>
          <a:ln w="1524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943600"/>
            <a:ext cx="4572000" cy="4572000"/>
          </a:xfrm>
          <a:prstGeom prst="ellipse">
            <a:avLst/>
          </a:prstGeom>
          <a:noFill/>
          <a:ln w="15240">
            <a:solidFill>
              <a:srgbClr val="E0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6035040"/>
            <a:ext cx="2011680" cy="2011680"/>
          </a:xfrm>
          <a:prstGeom prst="ellipse">
            <a:avLst/>
          </a:prstGeom>
          <a:noFill/>
          <a:ln w="1524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02920"/>
            <a:ext cx="2011680" cy="32004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46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</a:rPr>
              <a:t>SHARP  ·  AURORA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Microsoft JhengHei"/>
                <a:ea typeface="Microsoft JhengHei"/>
              </a:rPr>
              <a:t>震旦通訊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1" i="0">
                <a:solidFill>
                  <a:srgbClr val="00D9C0"/>
                </a:solidFill>
                <a:latin typeface="Microsoft JhengHei"/>
                <a:ea typeface="Microsoft JhengHei"/>
              </a:rPr>
              <a:t>OMO 智能零售平台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Microsoft JhengHei"/>
                <a:ea typeface="Microsoft JhengHei"/>
              </a:rPr>
              <a:t>AI 驅動的線上線下融合作業系統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74920"/>
            <a:ext cx="73152" cy="3200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A93B0"/>
                </a:solidFill>
                <a:latin typeface="Microsoft JhengHei"/>
                <a:ea typeface="Microsoft JhengHei"/>
              </a:rPr>
              <a:t>五大角色  ·  三大 AI 集群  ·  一體化戰情室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 ·  SHARP AURORA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2636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A93B0"/>
                </a:solidFill>
                <a:latin typeface="Microsoft JhengHei"/>
                <a:ea typeface="Microsoft JhengHei"/>
              </a:rPr>
              <a:t>2026  ·  系統介紹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50B1E"/>
              </a:gs>
              <a:gs pos="100000">
                <a:srgbClr val="0F2C52"/>
              </a:gs>
            </a:gsLst>
            <a:lin ang="90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0" cy="54864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A93B0"/>
                </a:solidFill>
                <a:latin typeface="Microsoft JhengHei"/>
                <a:ea typeface="Microsoft JhengHei"/>
              </a:rPr>
              <a:t>一句話定位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1556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Microsoft JhengHei"/>
                <a:ea typeface="Microsoft JhengHei"/>
              </a:rPr>
              <a:t>用 AI，讓每一次接觸</a:t>
            </a:r>
          </a:p>
          <a:p>
            <a:pPr algn="l"/>
            <a:r>
              <a:rPr sz="6800" b="1" i="0">
                <a:solidFill>
                  <a:srgbClr val="FFFFFF"/>
                </a:solidFill>
                <a:latin typeface="Microsoft JhengHei"/>
                <a:ea typeface="Microsoft JhengHei"/>
              </a:rPr>
              <a:t>都是最好的一次。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029200"/>
            <a:ext cx="2377440" cy="73152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1663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A93B0"/>
                </a:solidFill>
                <a:latin typeface="Microsoft JhengHei"/>
                <a:ea typeface="Microsoft JhengHei"/>
              </a:rPr>
              <a:t>從會員洞察、行銷生成、補貨預測到個資治理  ——  一套系統，全通路運行。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JhengHei"/>
                <a:ea typeface="Microsoft JhengHei"/>
              </a:rPr>
              <a:t>系統一覽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93B0"/>
                </a:solidFill>
                <a:latin typeface="Microsoft JhengHei"/>
                <a:ea typeface="Microsoft JhengHei"/>
              </a:rPr>
              <a:t>System at a glance  ·  五大角色，一套平台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12848" cy="3840480"/>
          </a:xfrm>
          <a:prstGeom prst="rect">
            <a:avLst/>
          </a:prstGeom>
          <a:solidFill>
            <a:srgbClr val="14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212848" cy="128016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243584" y="2331720"/>
            <a:ext cx="822960" cy="822960"/>
          </a:xfrm>
          <a:prstGeom prst="hexagon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總部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C0272D"/>
                </a:solidFill>
                <a:latin typeface="Microsoft JhengHei"/>
                <a:ea typeface="Microsoft JhengHei"/>
              </a:rPr>
              <a:t>EXECUTIVE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526280"/>
            <a:ext cx="1115568" cy="18288"/>
          </a:xfrm>
          <a:prstGeom prst="rect">
            <a:avLst/>
          </a:prstGeom>
          <a:solidFill>
            <a:srgbClr val="8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663440"/>
            <a:ext cx="19385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A93B0"/>
                </a:solidFill>
                <a:latin typeface="Microsoft JhengHei"/>
                <a:ea typeface="Microsoft JhengHei"/>
              </a:rPr>
              <a:t>全國戰情 · 裁決 · 治理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7208" y="1828800"/>
            <a:ext cx="2212848" cy="3840480"/>
          </a:xfrm>
          <a:prstGeom prst="rect">
            <a:avLst/>
          </a:prstGeom>
          <a:solidFill>
            <a:srgbClr val="14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07208" y="1828800"/>
            <a:ext cx="2212848" cy="128016"/>
          </a:xfrm>
          <a:prstGeom prst="rect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3502152" y="2331720"/>
            <a:ext cx="822960" cy="822960"/>
          </a:xfrm>
          <a:prstGeom prst="hexagon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7208" y="2331720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3383280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行銷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402336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03CA0"/>
                </a:solidFill>
                <a:latin typeface="Microsoft JhengHei"/>
                <a:ea typeface="Microsoft JhengHei"/>
              </a:rPr>
              <a:t>MARKETING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5848" y="4526280"/>
            <a:ext cx="1115568" cy="18288"/>
          </a:xfrm>
          <a:prstGeom prst="rect">
            <a:avLst/>
          </a:prstGeom>
          <a:solidFill>
            <a:srgbClr val="8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4663440"/>
            <a:ext cx="19385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A93B0"/>
                </a:solidFill>
                <a:latin typeface="Microsoft JhengHei"/>
                <a:ea typeface="Microsoft JhengHei"/>
              </a:rPr>
              <a:t>會員 · 分群 · AI 文案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5776" y="1828800"/>
            <a:ext cx="2212848" cy="3840480"/>
          </a:xfrm>
          <a:prstGeom prst="rect">
            <a:avLst/>
          </a:prstGeom>
          <a:solidFill>
            <a:srgbClr val="14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5776" y="1828800"/>
            <a:ext cx="2212848" cy="128016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5760720" y="2331720"/>
            <a:ext cx="822960" cy="822960"/>
          </a:xfrm>
          <a:prstGeom prst="hexagon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65776" y="2331720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3383280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營運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402336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D9C0"/>
                </a:solidFill>
                <a:latin typeface="Microsoft JhengHei"/>
                <a:ea typeface="Microsoft JhengHei"/>
              </a:rPr>
              <a:t>OPERATIONS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4526280"/>
            <a:ext cx="1115568" cy="18288"/>
          </a:xfrm>
          <a:prstGeom prst="rect">
            <a:avLst/>
          </a:prstGeom>
          <a:solidFill>
            <a:srgbClr val="8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02936" y="4663440"/>
            <a:ext cx="19385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A93B0"/>
                </a:solidFill>
                <a:latin typeface="Microsoft JhengHei"/>
                <a:ea typeface="Microsoft JhengHei"/>
              </a:rPr>
              <a:t>補貨 · 預測 · 區域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4344" y="1828800"/>
            <a:ext cx="2212848" cy="3840480"/>
          </a:xfrm>
          <a:prstGeom prst="rect">
            <a:avLst/>
          </a:prstGeom>
          <a:solidFill>
            <a:srgbClr val="14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24344" y="1828800"/>
            <a:ext cx="2212848" cy="128016"/>
          </a:xfrm>
          <a:prstGeom prst="rect">
            <a:avLst/>
          </a:prstGeom>
          <a:solidFill>
            <a:srgbClr val="FFC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8019288" y="2331720"/>
            <a:ext cx="822960" cy="822960"/>
          </a:xfrm>
          <a:prstGeom prst="hexagon">
            <a:avLst/>
          </a:prstGeom>
          <a:solidFill>
            <a:srgbClr val="FFC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24344" y="2331720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4344" y="3383280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門市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402336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C33D"/>
                </a:solidFill>
                <a:latin typeface="Microsoft JhengHei"/>
                <a:ea typeface="Microsoft JhengHei"/>
              </a:rPr>
              <a:t>STORE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72984" y="4526280"/>
            <a:ext cx="1115568" cy="18288"/>
          </a:xfrm>
          <a:prstGeom prst="rect">
            <a:avLst/>
          </a:prstGeom>
          <a:solidFill>
            <a:srgbClr val="8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61504" y="4663440"/>
            <a:ext cx="19385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A93B0"/>
                </a:solidFill>
                <a:latin typeface="Microsoft JhengHei"/>
                <a:ea typeface="Microsoft JhengHei"/>
              </a:rPr>
              <a:t>顧客 · 服務 · KPI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82912" y="1828800"/>
            <a:ext cx="2212848" cy="3840480"/>
          </a:xfrm>
          <a:prstGeom prst="rect">
            <a:avLst/>
          </a:prstGeom>
          <a:solidFill>
            <a:srgbClr val="14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82912" y="1828800"/>
            <a:ext cx="2212848" cy="12801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277856" y="2331720"/>
            <a:ext cx="822960" cy="822960"/>
          </a:xfrm>
          <a:prstGeom prst="hexagon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82912" y="2331720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2912" y="3383280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經銷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2912" y="402336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4A9EFF"/>
                </a:solidFill>
                <a:latin typeface="Microsoft JhengHei"/>
                <a:ea typeface="Microsoft JhengHei"/>
              </a:rPr>
              <a:t>PARTNER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1552" y="4526280"/>
            <a:ext cx="1115568" cy="18288"/>
          </a:xfrm>
          <a:prstGeom prst="rect">
            <a:avLst/>
          </a:prstGeom>
          <a:solidFill>
            <a:srgbClr val="8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20072" y="4663440"/>
            <a:ext cx="19385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A93B0"/>
                </a:solidFill>
                <a:latin typeface="Microsoft JhengHei"/>
                <a:ea typeface="Microsoft JhengHei"/>
              </a:rPr>
              <a:t>補貨 · 預警 · 聲量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A93B0"/>
                </a:solidFill>
                <a:latin typeface="Microsoft JhengHei"/>
                <a:ea typeface="Microsoft JhengHei"/>
              </a:rPr>
              <a:t>同一份數據  ·  依角色權限自動裁切  ·  行為皆入稽核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50A1E"/>
              </a:gs>
              <a:gs pos="100000">
                <a:srgbClr val="0B1F40"/>
              </a:gs>
            </a:gsLst>
            <a:lin ang="30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9C0"/>
                </a:solidFill>
                <a:latin typeface="Microsoft JhengHei"/>
                <a:ea typeface="Microsoft JhengHei"/>
              </a:rPr>
              <a:t>PART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37160" cy="320040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  <a:latin typeface="Microsoft JhengHei"/>
                <a:ea typeface="Microsoft JhengHei"/>
              </a:rPr>
              <a:t>三大功能區塊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8A93B0"/>
                </a:solidFill>
                <a:latin typeface="Microsoft JhengHei"/>
                <a:ea typeface="Microsoft JhengHei"/>
              </a:rPr>
              <a:t>從 B2C 會員到 B2B 補貨，再到覆蓋兩端的 AI 集群。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457200"/>
          </a:xfrm>
          <a:prstGeom prst="rect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03CA0"/>
                </a:solidFill>
                <a:latin typeface="Microsoft JhengHei"/>
                <a:ea typeface="Microsoft JhengHei"/>
              </a:rPr>
              <a:t>B2C  · 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669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</a:rPr>
              <a:t>會員全景 × 分群 × 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A93B0"/>
                </a:solidFill>
                <a:latin typeface="Microsoft JhengHei"/>
                <a:ea typeface="Microsoft JhengHei"/>
              </a:rPr>
              <a:t>以 RFM、標籤與 AI 名單，把行銷從『發送』升級為『分群治理』。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4745736"/>
            <a:ext cx="128016" cy="128016"/>
          </a:xfrm>
          <a:prstGeom prst="ellipse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RFM 分群自動更新，鎖定沉睡與 VIP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5202936"/>
            <a:ext cx="128016" cy="128016"/>
          </a:xfrm>
          <a:prstGeom prst="ellipse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標籤 × 群組，跨活動重用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5660136"/>
            <a:ext cx="128016" cy="128016"/>
          </a:xfrm>
          <a:prstGeom prst="ellipse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321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AI 名單：模型預測 × 流失警示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6117336"/>
            <a:ext cx="128016" cy="128016"/>
          </a:xfrm>
          <a:prstGeom prst="ellipse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全生命週期旅程視覺化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4520" y="914400"/>
            <a:ext cx="60000" cy="3337560"/>
          </a:xfrm>
          <a:prstGeom prst="rect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914400"/>
            <a:ext cx="5349240" cy="3337560"/>
          </a:xfrm>
          <a:prstGeom prst="rect">
            <a:avLst/>
          </a:prstGeom>
          <a:solidFill>
            <a:srgbClr val="1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kt-02-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914400"/>
            <a:ext cx="5349240" cy="33375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446520" y="4297680"/>
            <a:ext cx="5349240" cy="45720"/>
          </a:xfrm>
          <a:prstGeom prst="rect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B0"/>
                </a:solidFill>
                <a:latin typeface="Microsoft JhengHei"/>
                <a:ea typeface="Microsoft JhengHei"/>
              </a:rPr>
              <a:t>實機截圖  ·  zdts.bibifortest.org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91440" cy="45720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9C0"/>
                </a:solidFill>
                <a:latin typeface="Microsoft JhengHei"/>
                <a:ea typeface="Microsoft JhengHei"/>
              </a:rPr>
              <a:t>B2B  · 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669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</a:rPr>
              <a:t>補貨 × 預警 × 需求預測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A93B0"/>
                </a:solidFill>
                <a:latin typeface="Microsoft JhengHei"/>
                <a:ea typeface="Microsoft JhengHei"/>
              </a:rPr>
              <a:t>以模型預測驅動全國補貨，警訊集中處理，區域指標一頁看。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4745736"/>
            <a:ext cx="128016" cy="128016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全國補貨看板  ·  一鍵下推門市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5202936"/>
            <a:ext cx="128016" cy="128016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低庫存 × 異常預警自動通報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5660136"/>
            <a:ext cx="128016" cy="128016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321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Prophet 需求預測模型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6117336"/>
            <a:ext cx="128016" cy="128016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區域儀表  ·  跨店比較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4520" y="914400"/>
            <a:ext cx="60000" cy="333756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914400"/>
            <a:ext cx="5349240" cy="3337560"/>
          </a:xfrm>
          <a:prstGeom prst="rect">
            <a:avLst/>
          </a:prstGeom>
          <a:solidFill>
            <a:srgbClr val="1A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3-13-b2b-re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914400"/>
            <a:ext cx="5349240" cy="33375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446520" y="4297680"/>
            <a:ext cx="5349240" cy="4572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B0"/>
                </a:solidFill>
                <a:latin typeface="Microsoft JhengHei"/>
                <a:ea typeface="Microsoft JhengHei"/>
              </a:rPr>
              <a:t>實機截圖  ·  zdts.bibifortest.org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50A1E"/>
              </a:gs>
              <a:gs pos="100000">
                <a:srgbClr val="0B1F40"/>
              </a:gs>
            </a:gsLst>
            <a:lin ang="30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03CA0"/>
                </a:solidFill>
                <a:latin typeface="Microsoft JhengHei"/>
                <a:ea typeface="Microsoft JhengHei"/>
              </a:rPr>
              <a:t>PART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37160" cy="3200400"/>
          </a:xfrm>
          <a:prstGeom prst="rect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  <a:latin typeface="Microsoft JhengHei"/>
                <a:ea typeface="Microsoft JhengHei"/>
              </a:rPr>
              <a:t>AI 亮點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8A93B0"/>
                </a:solidFill>
                <a:latin typeface="Microsoft JhengHei"/>
                <a:ea typeface="Microsoft JhengHei"/>
              </a:rPr>
              <a:t>四個位於作業核心的 AI 集群，不是外掛，是流程本身。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60822"/>
              </a:gs>
              <a:gs pos="100000">
                <a:srgbClr val="140A38"/>
              </a:gs>
            </a:gsLst>
            <a:lin ang="315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0" cy="365760"/>
          </a:xfrm>
          <a:prstGeom prst="rect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A0A1E"/>
                </a:solidFill>
                <a:latin typeface="Microsoft JhengHei"/>
                <a:ea typeface="Microsoft JhengHei"/>
              </a:rPr>
              <a:t>AI  ·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457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93B0"/>
                </a:solidFill>
                <a:latin typeface="Microsoft JhengHei"/>
                <a:ea typeface="Microsoft JhengHei"/>
              </a:rPr>
              <a:t>LLM DRAFT  ·  ANTHROPIC × PROMPT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</a:rPr>
              <a:t>AI 文案生成  ·  行銷起手不再從零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A93B0"/>
                </a:solidFill>
                <a:latin typeface="Microsoft JhengHei"/>
                <a:ea typeface="Microsoft JhengHei"/>
              </a:rPr>
              <a:t>從活動主題、目標分群、渠道特性一鍵產草稿，人工審核後即發送。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1007" y="2971800"/>
            <a:ext cx="8869680" cy="3291840"/>
          </a:xfrm>
          <a:prstGeom prst="rect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kt-14-llm-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3063240"/>
            <a:ext cx="868680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60822"/>
              </a:gs>
              <a:gs pos="100000">
                <a:srgbClr val="140A38"/>
              </a:gs>
            </a:gsLst>
            <a:lin ang="315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0" cy="36576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A0A1E"/>
                </a:solidFill>
                <a:latin typeface="Microsoft JhengHei"/>
                <a:ea typeface="Microsoft JhengHei"/>
              </a:rPr>
              <a:t>AI  ·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457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93B0"/>
                </a:solidFill>
                <a:latin typeface="Microsoft JhengHei"/>
                <a:ea typeface="Microsoft JhengHei"/>
              </a:rPr>
              <a:t>MLOPS  ·  MODEL ACCURACY &amp;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</a:rPr>
              <a:t>需求預測  ·  補貨從此有依據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A93B0"/>
                </a:solidFill>
                <a:latin typeface="Microsoft JhengHei"/>
                <a:ea typeface="Microsoft JhengHei"/>
              </a:rPr>
              <a:t>每一支模型都有版本、有 MAPE、有漂移監控——預測不再是黑箱。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1007" y="2971800"/>
            <a:ext cx="8869680" cy="32918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q-04-mlops-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3063240"/>
            <a:ext cx="868680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60822"/>
              </a:gs>
              <a:gs pos="100000">
                <a:srgbClr val="140A38"/>
              </a:gs>
            </a:gsLst>
            <a:lin ang="315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0" cy="365760"/>
          </a:xfrm>
          <a:prstGeom prst="rect">
            <a:avLst/>
          </a:prstGeom>
          <a:solidFill>
            <a:srgbClr val="FFC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A0A1E"/>
                </a:solidFill>
                <a:latin typeface="Microsoft JhengHei"/>
                <a:ea typeface="Microsoft JhengHei"/>
              </a:rPr>
              <a:t>AI  ·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457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93B0"/>
                </a:solidFill>
                <a:latin typeface="Microsoft JhengHei"/>
                <a:ea typeface="Microsoft JhengHei"/>
              </a:rPr>
              <a:t>REVIEW QUEUE  ·  HUMAN × MACHINE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</a:rPr>
              <a:t>AI 審核佇列  ·  上稿前的守門員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A93B0"/>
                </a:solidFill>
                <a:latin typeface="Microsoft JhengHei"/>
                <a:ea typeface="Microsoft JhengHei"/>
              </a:rPr>
              <a:t>AI 產出必經人工複核；風險關鍵字、超額預算全部自動攔截。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1007" y="2971800"/>
            <a:ext cx="8869680" cy="3291840"/>
          </a:xfrm>
          <a:prstGeom prst="rect">
            <a:avLst/>
          </a:prstGeom>
          <a:solidFill>
            <a:srgbClr val="FFC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kt-15-audit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3063240"/>
            <a:ext cx="868680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60822"/>
              </a:gs>
              <a:gs pos="100000">
                <a:srgbClr val="140A38"/>
              </a:gs>
            </a:gsLst>
            <a:lin ang="315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0" cy="3657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A0A1E"/>
                </a:solidFill>
                <a:latin typeface="Microsoft JhengHei"/>
                <a:ea typeface="Microsoft JhengHei"/>
              </a:rPr>
              <a:t>AI  ·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457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93B0"/>
                </a:solidFill>
                <a:latin typeface="Microsoft JhengHei"/>
                <a:ea typeface="Microsoft JhengHei"/>
              </a:rPr>
              <a:t>PRIVACY  ·  DSAR &amp;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</a:rPr>
              <a:t>個資 DSAR  ·  合規不再靠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A93B0"/>
                </a:solidFill>
                <a:latin typeface="Microsoft JhengHei"/>
                <a:ea typeface="Microsoft JhengHei"/>
              </a:rPr>
              <a:t>查詢、更正、刪除、可攜——一頁完成，全程稽核。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1007" y="2971800"/>
            <a:ext cx="8869680" cy="32918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q-10-privacy-ds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3063240"/>
            <a:ext cx="868680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JhengHei"/>
                <a:ea typeface="Microsoft JhengHei"/>
              </a:rPr>
              <a:t>技術架構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93B0"/>
                </a:solidFill>
                <a:latin typeface="Microsoft JhengHei"/>
                <a:ea typeface="Microsoft JhengHei"/>
              </a:rPr>
              <a:t>極簡版  ·  資料如何在系統中流動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07" y="1920240"/>
            <a:ext cx="2651760" cy="4023360"/>
          </a:xfrm>
          <a:prstGeom prst="rect">
            <a:avLst/>
          </a:prstGeom>
          <a:solidFill>
            <a:srgbClr val="14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1920240"/>
            <a:ext cx="2651760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007" y="21945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</a:rPr>
              <a:t>客戶端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007" y="26974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4A9EFF"/>
                </a:solidFill>
                <a:latin typeface="Microsoft JhengHei"/>
                <a:ea typeface="Microsoft JhengHei"/>
              </a:rPr>
              <a:t>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207" y="3108960"/>
            <a:ext cx="1737360" cy="18288"/>
          </a:xfrm>
          <a:prstGeom prst="rect">
            <a:avLst/>
          </a:prstGeom>
          <a:solidFill>
            <a:srgbClr val="8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607" y="32918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Web App (React 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794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行動友善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4297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五角色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647" y="1920240"/>
            <a:ext cx="2651760" cy="4023360"/>
          </a:xfrm>
          <a:prstGeom prst="rect">
            <a:avLst/>
          </a:prstGeom>
          <a:solidFill>
            <a:srgbClr val="14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2647" y="1920240"/>
            <a:ext cx="2651760" cy="10972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2647" y="21945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</a:rPr>
              <a:t>OMO 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2647" y="26974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D9C0"/>
                </a:solidFill>
                <a:latin typeface="Microsoft JhengHei"/>
                <a:ea typeface="Microsoft JhengHei"/>
              </a:rPr>
              <a:t>OMO 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9847" y="3108960"/>
            <a:ext cx="1737360" cy="18288"/>
          </a:xfrm>
          <a:prstGeom prst="rect">
            <a:avLst/>
          </a:prstGeom>
          <a:solidFill>
            <a:srgbClr val="8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1247" y="32918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Nest / Node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247" y="3794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Prisma  ·  PG / MSSQL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1247" y="4297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JWT · MFA · 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7287" y="1920240"/>
            <a:ext cx="2651760" cy="4023360"/>
          </a:xfrm>
          <a:prstGeom prst="rect">
            <a:avLst/>
          </a:prstGeom>
          <a:solidFill>
            <a:srgbClr val="14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7287" y="1920240"/>
            <a:ext cx="2651760" cy="109728"/>
          </a:xfrm>
          <a:prstGeom prst="rect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7287" y="21945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</a:rPr>
              <a:t>AI 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26974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03CA0"/>
                </a:solidFill>
                <a:latin typeface="Microsoft JhengHei"/>
                <a:ea typeface="Microsoft JhengHei"/>
              </a:rPr>
              <a:t>AI ENGINES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4487" y="3108960"/>
            <a:ext cx="1737360" cy="18288"/>
          </a:xfrm>
          <a:prstGeom prst="rect">
            <a:avLst/>
          </a:prstGeom>
          <a:solidFill>
            <a:srgbClr val="8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5887" y="32918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887" y="3794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Forecast (Prophet)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4297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LLM Draft /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1927" y="1920240"/>
            <a:ext cx="2651760" cy="4023360"/>
          </a:xfrm>
          <a:prstGeom prst="rect">
            <a:avLst/>
          </a:prstGeom>
          <a:solidFill>
            <a:srgbClr val="14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1927" y="1920240"/>
            <a:ext cx="2651760" cy="109728"/>
          </a:xfrm>
          <a:prstGeom prst="rect">
            <a:avLst/>
          </a:prstGeom>
          <a:solidFill>
            <a:srgbClr val="FFC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1927" y="21945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</a:rPr>
              <a:t>外部服務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1927" y="26974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C33D"/>
                </a:solidFill>
                <a:latin typeface="Microsoft JhengHei"/>
                <a:ea typeface="Microsoft JhengHei"/>
              </a:rPr>
              <a:t>PROVIDERS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79127" y="3108960"/>
            <a:ext cx="1737360" cy="18288"/>
          </a:xfrm>
          <a:prstGeom prst="rect">
            <a:avLst/>
          </a:prstGeom>
          <a:solidFill>
            <a:srgbClr val="8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0527" y="32918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電子豹  E-Mail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0527" y="3794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LINE Notify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0527" y="4297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</a:rPr>
              <a:t>·  SMS / Storage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119767" y="3749040"/>
            <a:ext cx="282880" cy="365760"/>
          </a:xfrm>
          <a:prstGeom prst="rightArrow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5954407" y="3749040"/>
            <a:ext cx="282880" cy="365760"/>
          </a:xfrm>
          <a:prstGeom prst="rightArrow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8789047" y="3749040"/>
            <a:ext cx="282880" cy="365760"/>
          </a:xfrm>
          <a:prstGeom prst="rightArrow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B0"/>
                </a:solidFill>
                <a:latin typeface="Microsoft JhengHei"/>
                <a:ea typeface="Microsoft JhengHei"/>
              </a:rPr>
              <a:t>全鏈路可追溯  ·  API 皆入稽核  ·  租戶隔離依 EnterpriseID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0A0A1E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C0"/>
                </a:solidFill>
                <a:latin typeface="Microsoft JhengHei"/>
                <a:ea typeface="Microsoft JhengHei"/>
              </a:rPr>
              <a:t>OPERATIONAL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</a:rPr>
              <a:t>登入 → 全國戰情第一畫面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A93B0"/>
                </a:solidFill>
                <a:latin typeface="Microsoft JhengHei"/>
                <a:ea typeface="Microsoft JhengHei"/>
              </a:rPr>
              <a:t>本月營收、待裁決事項、門店概況、個資與資安摘要—一頁看完。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83183" y="2093976"/>
            <a:ext cx="10625328" cy="4224528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q-01-kp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148840"/>
            <a:ext cx="105156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0A0A1E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3CA0"/>
                </a:solidFill>
                <a:latin typeface="Microsoft JhengHei"/>
                <a:ea typeface="Microsoft JhengHei"/>
              </a:rPr>
              <a:t>OPERATIONAL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</a:rPr>
              <a:t>從 RFM 分群圈出流失族群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A93B0"/>
                </a:solidFill>
                <a:latin typeface="Microsoft JhengHei"/>
                <a:ea typeface="Microsoft JhengHei"/>
              </a:rPr>
              <a:t>自動 RFM 打分、標籤化管理、跨活動重用。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83183" y="2093976"/>
            <a:ext cx="10625328" cy="4224528"/>
          </a:xfrm>
          <a:prstGeom prst="rect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kt-02-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148840"/>
            <a:ext cx="105156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FFC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0A0A1E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33D"/>
                </a:solidFill>
                <a:latin typeface="Microsoft JhengHei"/>
                <a:ea typeface="Microsoft JhengHei"/>
              </a:rPr>
              <a:t>OPERATIONAL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7772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</a:rPr>
              <a:t>用 AI 產文案 → 人工審核 → 發送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A93B0"/>
                </a:solidFill>
                <a:latin typeface="Microsoft JhengHei"/>
                <a:ea typeface="Microsoft JhengHei"/>
              </a:rPr>
              <a:t>從空白到可發送，只要一次 prompt 與一次審核。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83183" y="2093976"/>
            <a:ext cx="10625328" cy="4224528"/>
          </a:xfrm>
          <a:prstGeom prst="rect">
            <a:avLst/>
          </a:prstGeom>
          <a:solidFill>
            <a:srgbClr val="FFC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kt-14-llm-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148840"/>
            <a:ext cx="105156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50A1E"/>
              </a:gs>
              <a:gs pos="100000">
                <a:srgbClr val="11082E"/>
              </a:gs>
            </a:gsLst>
            <a:lin ang="60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JhengHei"/>
                <a:ea typeface="Microsoft JhengHei"/>
              </a:rPr>
              <a:t>為什麼是我們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93B0"/>
                </a:solidFill>
                <a:latin typeface="Microsoft JhengHei"/>
                <a:ea typeface="Microsoft JhengHei"/>
              </a:rPr>
              <a:t>Why Aurora  ·  五大架構優勢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82880" cy="7772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10881360" cy="777240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全通路一體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9C0"/>
                </a:solidFill>
                <a:latin typeface="Microsoft JhengHei"/>
                <a:ea typeface="Microsoft JhengHei"/>
              </a:rPr>
              <a:t>OMOgeneous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93852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A93B0"/>
                </a:solidFill>
                <a:latin typeface="Microsoft JhengHei"/>
                <a:ea typeface="Microsoft JhengHei"/>
              </a:rPr>
              <a:t>會員、活動、庫存共用同一份 Truth，避免資料分裂。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182880" cy="777240"/>
          </a:xfrm>
          <a:prstGeom prst="rect">
            <a:avLst/>
          </a:prstGeom>
          <a:solidFill>
            <a:srgbClr val="E0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606040"/>
            <a:ext cx="10881360" cy="777240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791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AI 原生設計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632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3CA0"/>
                </a:solidFill>
                <a:latin typeface="Microsoft JhengHei"/>
                <a:ea typeface="Microsoft JhengHei"/>
              </a:rPr>
              <a:t>AI-Native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80720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A93B0"/>
                </a:solidFill>
                <a:latin typeface="Microsoft JhengHei"/>
                <a:ea typeface="Microsoft JhengHei"/>
              </a:rPr>
              <a:t>推薦、預測、生成、審核已內建，非事後貼合。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182880" cy="777240"/>
          </a:xfrm>
          <a:prstGeom prst="rect">
            <a:avLst/>
          </a:prstGeom>
          <a:solidFill>
            <a:srgbClr val="FFC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474720"/>
            <a:ext cx="10881360" cy="777240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4787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合規可審計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319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33D"/>
                </a:solidFill>
                <a:latin typeface="Microsoft JhengHei"/>
                <a:ea typeface="Microsoft JhengHei"/>
              </a:rPr>
              <a:t>Audit-First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67588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A93B0"/>
                </a:solidFill>
                <a:latin typeface="Microsoft JhengHei"/>
                <a:ea typeface="Microsoft JhengHei"/>
              </a:rPr>
              <a:t>個資稽核、DSAR、Break-Glass、Session 皆入日誌。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182880" cy="7772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343400"/>
            <a:ext cx="10881360" cy="777240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165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角色即權限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006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9EFF"/>
                </a:solidFill>
                <a:latin typeface="Microsoft JhengHei"/>
                <a:ea typeface="Microsoft JhengHei"/>
              </a:rPr>
              <a:t>RBAC by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54456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A93B0"/>
                </a:solidFill>
                <a:latin typeface="Microsoft JhengHei"/>
                <a:ea typeface="Microsoft JhengHei"/>
              </a:rPr>
              <a:t>五角色×資料範圍×MFA，權限一次設完。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12080"/>
            <a:ext cx="182880" cy="77724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212080"/>
            <a:ext cx="10881360" cy="777240"/>
          </a:xfrm>
          <a:prstGeom prst="rect">
            <a:avLst/>
          </a:prstGeom>
          <a:solidFill>
            <a:srgbClr val="12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8523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水平可擴充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6692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272D"/>
                </a:solidFill>
                <a:latin typeface="Microsoft JhengHei"/>
                <a:ea typeface="Microsoft JhengHei"/>
              </a:rPr>
              <a:t>Scale-out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41324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A93B0"/>
                </a:solidFill>
                <a:latin typeface="Microsoft JhengHei"/>
                <a:ea typeface="Microsoft JhengHei"/>
              </a:rPr>
              <a:t>多租戶  ·  多資料庫方言  ·  多雲儲存驅動。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夏普震旦 OMO  ·  智能零售 AI 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B0628"/>
              </a:gs>
              <a:gs pos="100000">
                <a:srgbClr val="081E4E"/>
              </a:gs>
            </a:gsLst>
            <a:lin ang="45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731520"/>
            <a:ext cx="4114800" cy="4114800"/>
          </a:xfrm>
          <a:prstGeom prst="ellipse">
            <a:avLst/>
          </a:prstGeom>
          <a:noFill/>
          <a:ln w="1524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029200"/>
            <a:ext cx="4114800" cy="4114800"/>
          </a:xfrm>
          <a:prstGeom prst="ellipse">
            <a:avLst/>
          </a:prstGeom>
          <a:noFill/>
          <a:ln w="15240">
            <a:solidFill>
              <a:srgbClr val="E0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  <a:latin typeface="Microsoft JhengHei"/>
                <a:ea typeface="Microsoft JhengHei"/>
              </a:rPr>
              <a:t>與您攜手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Microsoft JhengHei"/>
                <a:ea typeface="Microsoft JhengHei"/>
              </a:rPr>
              <a:t>下一步：安排 30 分鐘 Demo，帶您走過真實案例。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37760"/>
            <a:ext cx="11155680" cy="1280160"/>
          </a:xfrm>
          <a:prstGeom prst="rect">
            <a:avLst/>
          </a:prstGeom>
          <a:solidFill>
            <a:srgbClr val="14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9C0"/>
                </a:solidFill>
                <a:latin typeface="Microsoft JhengHei"/>
                <a:ea typeface="Microsoft JhengHei"/>
              </a:rPr>
              <a:t>聯絡窗口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94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</a:rPr>
              <a:t>  ·  Email： 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  <a:ea typeface="Microsoft JhengHei"/>
              </a:rPr>
              <a:t>  ·  Demo 環境： https://zdts.bibifortest.org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B0"/>
                </a:solidFill>
                <a:latin typeface="Microsoft JhengHei"/>
                <a:ea typeface="Microsoft JhengHe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