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4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Noto Sans CJK TC"/>
              </a:rPr>
              <a:t>亞瑟環境清潔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600"/>
              </a:spcAft>
            </a:pPr>
            <a:r>
              <a:rPr sz="4000" b="1">
                <a:solidFill>
                  <a:srgbClr val="111827"/>
                </a:solidFill>
                <a:latin typeface="Noto Sans CJK TC"/>
              </a:rPr>
              <a:t>多場域耗材 AI 預測補貨與供應鏈協同配送升級計畫</a:t>
            </a:r>
          </a:p>
          <a:p>
            <a:pPr>
              <a:lnSpc>
                <a:spcPct val="135000"/>
              </a:lnSpc>
              <a:spcBef>
                <a:spcPts val="1800"/>
              </a:spcBef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Noto Sans CJK TC"/>
              </a:rPr>
              <a:t>期中查核 — 功能展示報告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200000"/>
            <a:ext cx="108204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Noto Sans CJK TC"/>
              </a:rPr>
              <a:t>計畫期程：民國 115 年 5 月 7 日 — 116 年 1 月 7 日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Noto Sans CJK TC"/>
              </a:rPr>
              <a:t>報告日期：民國 115 年 8 月 22 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700000"/>
            <a:ext cx="10820400" cy="52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5800" y="5820000"/>
            <a:ext cx="1046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45309"/>
                </a:solidFill>
                <a:latin typeface="Noto Sans CJK TC"/>
              </a:rPr>
              <a:t>本報告截圖取自開發驗證環境；畫面中之數量與指標數值為功能展示用之情境資料，非營運實績。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0000"/>
            <a:ext cx="108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五大模組實作現況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0000"/>
            <a:ext cx="10820400" cy="3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5800" y="120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Noto Sans CJK TC"/>
              </a:rPr>
              <a:t>AI 耗材需求預測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5800" y="1200000"/>
            <a:ext cx="6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獨立預測引擎；中位數穩健集成、WAPE 準確率、假日因子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6200" y="1200000"/>
            <a:ext cx="10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0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800" y="176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Noto Sans CJK TC"/>
              </a:rPr>
              <a:t>異常預警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5800" y="1760000"/>
            <a:ext cx="6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六類營運預警自動偵測、分級、附建議處理方向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6200" y="1760000"/>
            <a:ext cx="10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6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00" y="232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Noto Sans CJK TC"/>
              </a:rPr>
              <a:t>AI 補貨建議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800" y="2320000"/>
            <a:ext cx="6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月草稿自動產建議量，人工確認後同步供應商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6200" y="2320000"/>
            <a:ext cx="10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2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00" y="288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Noto Sans CJK TC"/>
              </a:rPr>
              <a:t>供應鏈協同配送管理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800" y="2880000"/>
            <a:ext cx="6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同區需求自動併車、排定停靠順序、急件優先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6200" y="2880000"/>
            <a:ext cx="10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8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00" y="3440000"/>
            <a:ext cx="29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Noto Sans CJK TC"/>
              </a:rPr>
              <a:t>營運管理儀表板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800" y="3440000"/>
            <a:ext cx="62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六項 KPI 追蹤機制內建，數值持續統計中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6200" y="3440000"/>
            <a:ext cx="10000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4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50000"/>
            <a:ext cx="108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Noto Sans CJK TC"/>
              </a:rPr>
              <a:t>供應商 AI 協作功能（計畫書承諾 35 家可使用）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800" y="4580000"/>
            <a:ext cx="21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・需求預測查詢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5800" y="4580000"/>
            <a:ext cx="21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・補貨建議接收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5800" y="4580000"/>
            <a:ext cx="21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・異常通知回應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5800" y="4580000"/>
            <a:ext cx="21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・協同配送資訊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Noto Sans CJK TC"/>
              </a:rPr>
              <a:t>已實作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5800" y="4580000"/>
            <a:ext cx="21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・供貨進度回填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Noto Sans CJK TC"/>
              </a:rPr>
              <a:t>改為系統自動推導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0000"/>
            <a:ext cx="108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0000"/>
            <a:ext cx="10820400" cy="3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5800" y="125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5800" y="122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系統入門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5800" y="125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登入、首頁看什麼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2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800" y="181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第二章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5800" y="178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基本資料建立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5800" y="181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新增場域、建合約掛場域、角色與權限、人員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8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800" y="237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第三章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5800" y="234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AI 需求預測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5800" y="237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三個預測因子、看預測、三層分類的意義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4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800" y="293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第四章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5800" y="290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每月訂貨流程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5800" y="293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產草稿 → 各站填量 → 送出 → 總部覆核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0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800" y="349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第五章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5800" y="346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營運異常預警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5800" y="349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六種異常類型自動偵測與建議處理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6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800" y="405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第六章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5800" y="402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供應鏈協同配送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5800" y="405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同區併車、收貨驗收、供應商自助端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52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800" y="4610000"/>
            <a:ext cx="1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第七章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5800" y="4580000"/>
            <a:ext cx="3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11827"/>
                </a:solidFill>
                <a:latin typeface="Noto Sans CJK TC"/>
              </a:rPr>
              <a:t>營運指標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5800" y="4610000"/>
            <a:ext cx="6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六項 KPI 追蹤機制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0800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290000"/>
            <a:ext cx="10820400" cy="6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800" y="5410000"/>
            <a:ext cx="104204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Noto Sans CJK TC"/>
              </a:rPr>
              <a:t>圖片閱讀方式：紅色圓圈編號標在畫面上要點的位置，對應的紅字說明就在同一頁；編號順序即為操作順序。畫面右下角標「展示情境資料」者，數值為功能展示用，非營運實績。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第一章　系統入門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誰都會用到的兩頁：怎麼進去、進去看什麼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這一章要說什麼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系統是網頁版，用瀏覽器開就好，不用安裝。登入後的首頁會依你的角色顯示「今天該做的事」，不必自己去各個選單翻。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一句話帶過的設計原則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40000"/>
            <a:ext cx="10820400" cy="68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2730000"/>
            <a:ext cx="10420400" cy="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能自動帶的就不要人填、能算出來的就不要人查。整套系統的畫面都照這個原則做，所以你會看到很多欄位是預先填好的，只要改要改的那幾筆。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第二章　基本資料建立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AI 預測要有東西可算，得先有場域、合約、人與權限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為什麼要先講這一章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AI 預測不是打開就有數字。它要知道「哪一站」「用哪些品項」「每個月大概多少」，才算得出下個月該叫多少。這些都是這一章要建立的基本資料。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2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建立順序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0000"/>
            <a:ext cx="10820400" cy="42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3010000"/>
            <a:ext cx="1042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建場域 → 建合約 → 把場域掛到合約 → 指定現場主管 → 設定站×品項月需求 → 產草稿 → 看得到預測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目前實測狀況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175 個場域中有 11 個已掛合約。未掛合約的場域，AI 預測、合約預算、耗材費用這些以合約為單位的功能都會是空的 —— 這不是程式問題，是主檔資料還沒歸戶。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it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ontract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hang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ro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g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第三章　AI 需求預測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對應計畫書步驟 2「AI 需求預測：從經驗叫貨轉為資料推估」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這一章在解決什麼問題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0000"/>
            <a:ext cx="108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過去每個月要叫多少，靠現場主管的經驗。人換了、季節變了，量就不準。系統改成看該站該品項過去的實際叫貨紀錄推估，再依假日多寡微調。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計畫書怎麼寫的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70000"/>
            <a:ext cx="10820400" cy="62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2760000"/>
            <a:ext cx="104204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Noto Sans CJK TC"/>
              </a:rPr>
              <a:t>「導入 AI 需求預測模型，依據歷史耗用資料、場域特性與季節因素，推估各場域次月耗材需求量，供現場主管參考調整，降低人為經驗誤差。」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7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系統做到什麼 ── 也做到了「不知道就說不知道」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系統會把每個品項分成三種狀況，畫面上分得出來：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・常態（每個月都有叫）→ 直接給建議量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・混合（不是每個月都叫）→ 給建議量，但標「低信心」提醒現場多看一眼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・非定期／從沒叫過 → 不硬給數字，明說「請人工填量」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8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為什麼這件事重要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310000"/>
            <a:ext cx="10820400" cy="39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800" y="5400000"/>
            <a:ext cx="10420400" cy="3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Noto Sans CJK TC"/>
              </a:rPr>
              <a:t>資料不足時硬給一個數字，比不給更糟 —— 現場會照著叫，錯了還不知道錯在哪。系統寧可誠實說「這個我沒把握」。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ai-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forecast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forecast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forecas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fillback-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第四章　每月訂貨流程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對應計畫書步驟 4「補貨決策：系統建議、現場確認、總部覆核」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一個月的節奏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50000"/>
            <a:ext cx="10820400" cy="68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5800" y="1940000"/>
            <a:ext cx="10420400" cy="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每月 15 號系統自動產下個月的需求草稿 → 各站現場主管陸續填量、送出 → 25 號結單，還沒送的系統會掛催辦（不會自動替你決定要或不要）→ 總部覆核 → 調度檯決定跟誰買、從哪出貨 → 配送 → 收貨驗收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兩個刻意的設計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4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「量定一次」：送出後該月的量就鎖定，要改得走總部退回或另開緊急追加。這是為了讓數字有一個明確的定案點，不會一路改到出貨。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1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「未確認不等於不叫貨」：25 號到了還沒送出的站，系統不會自動採用建議值、也不會當成不叫貨，而是掛異常催該站主管確認。系統不替現場做決定。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各站互不影響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8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每個場域各自一張單。某一站送出並不會影響同合約其他站 —— 他們仍可繼續填到 25 號。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fillback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fillback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fillback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-hq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第五章　營運異常預警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對應計畫書步驟 3「異常預警處理：從事後救火轉為事前介入」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這一章在解決什麼問題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過去缺料、用量暴增、貨沒到，都要等現場回報才知道。系統現在每天自動巡檢六種狀況，發現就立案並通知該處理的人。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計畫書怎麼寫的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40000"/>
            <a:ext cx="10820400" cy="68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2730000"/>
            <a:ext cx="10420400" cy="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「針對低庫存、異常消耗、回報遲延、長時間未補貨、需求異常增加、供貨延遲等情況進行自動示警，即時通知受補助業者及受輔導供應合作業者雙方。」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3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系統做到什麼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3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六類全部自動偵測並分高中低風險；每則通知含計畫書要求的五要素（異常類型、發生場域、涉及品項、風險程度、建議處理方向）。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0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同一件事不會每天重複打擾，但拖越久系統記錄的提醒次數越高 —— 「已提醒 4 次」比「有一則通知」更能說明事情的嚴重度。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lerts-ad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第六章　供應鏈協同配送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對應計畫書步驟 5「協同配送執行：整併零散需求，優化物流路徑」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這一章在解決什麼問題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過去每個場域各自叫貨、各送各的，同一天同一區可能跑好幾趟。系統現在自動把同區域、時間相近的需求併成一車，並排好先送誰。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2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計畫書怎麼寫的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0000"/>
            <a:ext cx="10820400" cy="42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3010000"/>
            <a:ext cx="1042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「建立協同配送機制，整合鄰近場域之補貨需求，由系統規劃配送批次與路線順序，降低配送趟次與碳排。」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系統做到什麼 ── 實測數字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9 筆待配送需求 → 併成 3 車 → 省下 67% 趟次。急件（逾期、快到期、缺貨、有異常）自動排在前段。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資料有問題會直說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4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有一個場域的「區域」欄填的是縣市名而不是北中南區，系統暫時歸位讓它能併車，同時在畫面上明講這件事並建議去主檔改掉 —— 不靜默吞掉，也不因此擋住作業。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-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-rece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第六章（續）　供應商自助端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計畫書承諾 35 家供應商可使用 AI 協作功能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供應商看得到什麼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供應商用自己的帳號登入獨立入口，只看得到跟自己有關的資料，看不到其他供應商、也看不到內部成本。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四項協作功能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4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・需求預測查詢：看到亞瑟預估下個月會跟他叫多少，可提前備料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3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・補貨建議接收：系統算出的補貨建議直接推給供應商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・異常通知回應：供貨延遲等異常直接通知供應商，供應商可在系統上回覆說明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1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・協同配送資訊：看得到自己這批貨被排在哪一車、什麼時候送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upplier-reple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upplier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第七章　營運指標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計畫書承諾之六項 KPI 追蹤機制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追蹤機制已內建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0000"/>
            <a:ext cx="108204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六項指標的計算邏輯已寫入系統並持續累積：供應商使用率、操作紀錄、預測準確率、庫存持有天數、AI 建議轉換率、操作量。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2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本報告不宣稱達標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0000"/>
            <a:ext cx="10820400" cy="42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0" y="3010000"/>
            <a:ext cx="1042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Noto Sans CJK TC"/>
              </a:rPr>
              <a:t>各指標的計算口徑仍待評委確認，系統目前純呈現數字、不自行判定達標。畫面上也是這樣標示的。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5F"/>
                </a:solidFill>
                <a:latin typeface="Noto Sans CJK TC"/>
              </a:rPr>
              <a:t>為什麼這樣處理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0000"/>
            <a:ext cx="108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Noto Sans CJK TC"/>
              </a:rPr>
              <a:t>口徑沒談定就先宣稱達標，等於把後面的爭議留給結案。先把機制做好、數字誠實呈現，口徑確認後隨時可以出正式數據。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0-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5" y="320000"/>
            <a:ext cx="9307609" cy="621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80000"/>
            <a:ext cx="108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11827"/>
                </a:solidFill>
                <a:latin typeface="Noto Sans CJK TC"/>
              </a:rPr>
              <a:t>附註　關於本報告的資料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Noto Sans CJK TC"/>
              </a:rPr>
              <a:t>說清楚哪些是真的、哪些是展示用的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截圖來源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全部取自開發驗證環境（dev），以管理員身分實際操作產生，非模擬畫面。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哪些數值是展示用的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30000"/>
            <a:ext cx="108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為了讓 AI 預測有東西可算，我們在展示環境建立了 14 個月的歷史訂貨紀錄與 8 個示範場域的月需求。畫面右下角標「展示情境資料」者即屬此類。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0000"/>
            <a:ext cx="108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刻意保留了差異：黑色與紅色垃圾袋 14 個月都有叫（常態）、本色垃圾袋只有 4 個月有叫（混合·低信心）、綠色垃圾袋完全沒叫過（非定期）。這樣才看得出系統會區分「有把握」與「沒把握」。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5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個資處理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人員主檔那一頁的姓名與聯絡方式已於報告中遮蔽。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0000"/>
            <a:ext cx="108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3A5F"/>
                </a:solidFill>
                <a:latin typeface="Noto Sans CJK TC"/>
              </a:rPr>
              <a:t>會議後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30000"/>
            <a:ext cx="108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Noto Sans CJK TC"/>
              </a:rPr>
              <a:t>展示用資料備有清除腳本，可於驗收後一次移除，不會留在正式環境。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